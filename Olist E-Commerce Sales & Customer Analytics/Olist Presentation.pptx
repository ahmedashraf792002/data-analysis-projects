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286000"/>
            <a:ext cx="107259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مشروع تحليل شامل لمنصة Olist للتجارة الإلكترونية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البيانات، بناء Data Model، وعرض النتائج باستخدام Excel Power Query و Power Pivot و DAX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545836" y="4434840"/>
            <a:ext cx="109728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إعداد: Ahmed Ashraf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نبذة عن Olist والـDataset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2956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هي Olist؟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48143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تجارة إلكترونية برازيلية تربط بين البائعين الصغار والمتوسطين والعملاء عبر متجر واحد موحّد.</a:t>
            </a:r>
            <a:endParaRPr lang="en-US" sz="1500" dirty="0"/>
          </a:p>
          <a:p>
            <a:pPr algn="r" marL="342900" indent="-342900"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تغطي البيانات جوانب متعددة من رحلة الطلب: من الشراء، مرورًا بالدفع والشحن، وحتى تقييم العميل.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77356" y="1371600"/>
            <a:ext cx="5362956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1676" y="155448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 الـDataset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51676" y="2057400"/>
            <a:ext cx="481431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99,441 طلبًا و112,650 عنصر طلب.</a:t>
            </a:r>
            <a:endParaRPr lang="en-US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96,096 عميلًا فريدًا و3,095 بائعًا و32,951 منتجًا.</a:t>
            </a:r>
            <a:endParaRPr lang="en-US" sz="1500" dirty="0"/>
          </a:p>
          <a:p>
            <a:pPr algn="r" marL="342900" indent="-342900"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جداول مرتبطة: Customers, Orders, Order Items, Payments, Reviews, Products, Sellers, Geolocation, Category Translation.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 التي نحاول حلها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1591056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83112" y="1591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17904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يتغير أداء المبيعات عبر الزمن، وما العوامل المؤثرة فيه؟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83112" y="2377440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83112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04288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سلوك العملاء الشرائي، وأين يتركزون جغرافيًا؟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83112" y="3163824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83112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090672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تؤثر طرق الدفع وعدد الأقساط على قيمة وحجم الطلبات؟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3112" y="395020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83112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7705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أداء المنتجات والفئات والبائعين المختلفين؟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608576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83112" y="4736592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183112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663440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مدى كفاءة عملية الشحن والتوصيل، وأين تحدث التأخيرات؟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39496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83112" y="5522976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183112" y="5522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449824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مستوى رضا العملاء، وما العلاقة بينه وبين باقي العوامل؟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النتائج التي ظهرت من تحليل البيانات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67178" cy="4709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7178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المبيعات والطلبات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20141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13.59 مليون مبيعات عبر 99,441 طلب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 = 136.67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 من 2016 إلى 2018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وحدها ~38% من المبيعات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0138" y="1417320"/>
            <a:ext cx="2567178" cy="4709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90138" y="1417320"/>
            <a:ext cx="2567178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90138" y="141732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العملاء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73018" y="2057400"/>
            <a:ext cx="220141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96,096 عميل فريد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1.03 طلب لكل عميل فقط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عملاء مهيمنون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 وMG وRJ الأكبر عدديًا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1417320"/>
            <a:ext cx="2567178" cy="4709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31636" y="1417320"/>
            <a:ext cx="2567178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31636" y="141732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المنتجات والبائعين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14516" y="2057400"/>
            <a:ext cx="220141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32,951 منتج و3,095 بائع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beleza_saude الأعلى مبيعًا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cama_mesa_banho الأعلى كمية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هيمنة لبائع واحد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73134" y="1417320"/>
            <a:ext cx="2567178" cy="4709160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73134" y="1417320"/>
            <a:ext cx="2567178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73134" y="1417320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الشحن والتقييمات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56014" y="2057400"/>
            <a:ext cx="220141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معدل تسليم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يوم متوسط توصيل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RR: 29.3 يوم مقابل SP: 8.7</a:t>
            </a:r>
            <a:endParaRPr lang="en-US" sz="12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4.09 متوسط تقييم، 11.5% نجمة واحدة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الـKPIs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14344" cy="4709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51434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المبيعات والطلبات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5714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Quantity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7304" y="1417320"/>
            <a:ext cx="3514344" cy="4709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37304" y="1417320"/>
            <a:ext cx="351434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37304" y="141732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العملاء والدفع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65904" y="2148840"/>
            <a:ext cx="305714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Customers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Orders per Customer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Payment Value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Installments per Order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5968" y="1417320"/>
            <a:ext cx="3514344" cy="4709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25968" y="1417320"/>
            <a:ext cx="3514344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25968" y="141732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التوصيل والتقييمات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54568" y="2148840"/>
            <a:ext cx="305714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Rate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Delivery Time</a:t>
            </a:r>
            <a:endParaRPr lang="en-US" sz="1500" dirty="0"/>
          </a:p>
          <a:p>
            <a:pPr algn="r"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Review Score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شرح الـDashboard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بناء 3 صفحات Dashboard، كل صفحة تركز على جزء مختلف من التحليل: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14344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Customers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057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Sales, Orders, Customers, AOV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&amp; Orders Trend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States / Cities / Customers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Year, Month, State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7304" y="169164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7304" y="1691640"/>
            <a:ext cx="3514344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7304" y="169164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Payments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65904" y="2377440"/>
            <a:ext cx="3057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Products, Quantity, Item Price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Categories / Products / Sellers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Value by Type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Category, Payment 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69164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5968" y="1691640"/>
            <a:ext cx="3514344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25968" y="1691640"/>
            <a:ext cx="3514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Reviews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54568" y="2377440"/>
            <a:ext cx="30571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Rate, Avg Delivery Time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by Status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Score Distribution</a:t>
            </a:r>
            <a:endParaRPr lang="en-US" sz="1250" dirty="0"/>
          </a:p>
          <a:p>
            <a:pPr algn="r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 State, Category, Status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مشاكل الـBusiness التي تم اكتشافها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166420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83112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63040"/>
            <a:ext cx="10268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تكرار شراء منخفض جدًا: 1.03 طلب لكل عميل فقط — أغلب العملاء يشترون مرة واحدة ولا يعودون.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83112" y="267004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83112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68880"/>
            <a:ext cx="10268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فجوة كبيرة في وقت التوصيل بين الولايات: من 8.7 يوم في SP إلى أكثر من 29 يومًا في RR (أكثر من 3 أضعاف).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83112" y="367588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83112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474720"/>
            <a:ext cx="10268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تركز جغرافي شديد: SP وRJ وMG يهيمنون على المبيعات والعملاء، بينما ولايات الشمال/الشمال الشرقي حصتها ضئيلة جدًا.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3112" y="468172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83112" y="4681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480560"/>
            <a:ext cx="10268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رغم معدل تسليم 97%، فإن 11.5% من التقييمات (98,410 تقييم) بدرجة نجمة واحدة فقط.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167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83112" y="5687568"/>
            <a:ext cx="402336" cy="40233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183112" y="5687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486400"/>
            <a:ext cx="102687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اعتماد شبه كامل على وسيلة دفع واحدة (credit_card ~78% من قيمة المدفوعات).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تفسير ما حدث في الشركة بناءً على البيانات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الفترة والحدث: قفزت المبيعات من 49,785.92 فقط في 2016 إلى 6,155,514.08 في 2017 ثم 7,385,155.85 في 2018 (بيانات غير مكتملة للسنة).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305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التفسير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1063447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جزء من الفارق يعود لكون بيانات 2016 تغطي شهورًا قليلة فقط من انطلاق Olist. الجزء الآخر يعكس نموًا حقيقيًا في السوق: نما قطاع التجارة الإلكترونية في البرازيل 8% في 2017 و12% في 2018، بالتزامن مع خروج الاقتصاد البرازيلي من الركود الذي استمر 2014-2016. كما أن الانخفاض الظاهري في مبيعات سبتمبر وديسمبر عند التجميع عبر كل السنوات معًا يعود على الأرجح لعدم اكتمال بيانات 2016 و2018 لهذين الشهرين، وليس انخفاضًا موسميًا حقيقيًا.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559552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المصدر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852160"/>
            <a:ext cx="1063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 Webshoppers Report (عبر PagBrasil وPrivacy Shield)، وWikipedia – Economy of Brazil.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أهم أسباب المشاكل التي تم اكتشافها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1787652"/>
            <a:ext cx="402336" cy="402336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83112" y="1787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536192"/>
            <a:ext cx="102687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انخفاض تكرار الشراء قد يعكس غياب برامج ولاء أو تواصل متابع بعد أول عملية شراء، إضافة لطبيعة بعض الفئات الأعلى مبيعًا (أثاث، أدوات منزلية) التي تُشترى بشكل غير متكرر.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83112" y="2976372"/>
            <a:ext cx="402336" cy="402336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83112" y="2976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24912"/>
            <a:ext cx="102687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التفاوت في وقت التوصيل مرتبط مباشرة بالمسافة الجغرافية وضعف البنية التحتية اللوجستية في ولايات الشمال مقارنة بتركز مراكز التوزيع في الجنوب الشرقي.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83112" y="4165092"/>
            <a:ext cx="402336" cy="402336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183112" y="4165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913632"/>
            <a:ext cx="102687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التركز الجغرافي للمبيعات يعكس تركز الكثافة السكانية والنشاط الاقتصادي في SP وRJ وMG، وهو نمط معروف في الاقتصاد البرازيلي وليس خللًا في المنصة نفسها.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83112" y="5353812"/>
            <a:ext cx="402336" cy="402336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183112" y="53538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102352"/>
            <a:ext cx="102687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نسبة التقييمات السلبية لا ترتبط بالكامل بوقت التوصيل؛ فبعض الولايات القريبة من المتوسط العام سجّلت أيضًا تقييمات منخفضة، ما يشير لعوامل أخرى مثل جودة المنتج أو مطابقته للوصف.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C2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التوصيات والحلول المقترحة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2956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5362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490575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إطلاق برنامج ولاء أو عروض متابعة بعد أول عملية شراء لرفع معدل تكرار الشراء من 1.03 طلب لكل عميل.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الشراكات اللوجستية أو إضافة مراكز توزيع في ولايات الشمال والشمال الشرقي لتقليل فجوة وقت التوصيل.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تنويع قنوات الدفع المروَّج لها لتقليل الاعتماد شبه الكامل على credit_card.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استهداف ولايات مثل RJ وMG بحملات تسويقية إضافية دون الاعتماد الكلي على SP.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77356" y="1371600"/>
            <a:ext cx="5362956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77356" y="1371600"/>
            <a:ext cx="5362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حلول للأزمات والمشاكل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5956" y="2057400"/>
            <a:ext cx="490575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تحديد توقعات تسليم مختلفة حسب الولاية عند إتمام الطلب بدل توقع موحّد، لتقليل عدم الرضا الناتج عن فجوة التوقعات.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نصوص التقييمات السلبية (review_comment_message) لمعرفة إن كانت المشكلة في المنتج أو التوصيل أو التوقعات.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مراجعة فئات المنتجات ذات معدل التقييم المنخفض نسبيًا وربطها بمشاكل الجودة أو الوصف المحتملة.</a:t>
            </a:r>
            <a:endParaRPr lang="en-US" sz="1250" dirty="0"/>
          </a:p>
          <a:p>
            <a:pPr algn="r"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C2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العملاء ذوي الطلب الواحد برسائل أو عروض تحفيزية خلال فترة قصيرة بعد الشراء لتحويلهم إلى عملاء متكررين.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ملخص نهائي للمشروع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256264" y="1399032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256264" y="1399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فحص وتنظيف بيانات Olist عبر Power Query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256264" y="1965960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56264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38528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Data Model وربط 9 جداول عبر Relationships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256264" y="2532888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256264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505456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أكثر من 20 DAX Measure للتحليل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256264" y="3099816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256264" y="3099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072384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تنفيذ 31 تحليل عبر PivotTables في 6 محاور رئيسية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256264" y="3666744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256264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639312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3 صفحات Dashboard تفاعلية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256264" y="4233672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256264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206240"/>
            <a:ext cx="10543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13.59 مليون مبيعات عبر 99,441 طلب و96,096 عميل، بمعدل تسليم 97% وتقييم 4.09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45836" y="5074920"/>
            <a:ext cx="1097280" cy="2743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شكرًا لكم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مشروع تحليل شامل لمنصة Olist للتجارة الإلكترونية</dc:title>
  <dc:subject>PptxGenJS Presentation</dc:subject>
  <dc:creator>Ahmed Ashraf</dc:creator>
  <cp:lastModifiedBy>Ahmed Ashraf</cp:lastModifiedBy>
  <cp:revision>1</cp:revision>
  <dcterms:created xsi:type="dcterms:W3CDTF">2026-09-23T11:59:38Z</dcterms:created>
  <dcterms:modified xsi:type="dcterms:W3CDTF">2026-09-23T11:59:38Z</dcterms:modified>
</cp:coreProperties>
</file>